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61" r:id="rId7"/>
    <p:sldId id="263" r:id="rId8"/>
    <p:sldId id="262" r:id="rId9"/>
    <p:sldId id="274" r:id="rId10"/>
    <p:sldId id="275" r:id="rId11"/>
    <p:sldId id="273" r:id="rId12"/>
    <p:sldId id="265" r:id="rId13"/>
    <p:sldId id="266" r:id="rId14"/>
  </p:sldIdLst>
  <p:sldSz cx="12192000" cy="6858000"/>
  <p:notesSz cx="6858000" cy="9144000"/>
  <p:embeddedFontLst>
    <p:embeddedFont>
      <p:font typeface="Montserrat" pitchFamily="2" charset="77"/>
      <p:regular r:id="rId16"/>
      <p:bold r:id="rId17"/>
      <p:italic r:id="rId18"/>
      <p:boldItalic r:id="rId19"/>
    </p:embeddedFont>
    <p:embeddedFont>
      <p:font typeface="Montserrat SemiBold" panose="00000700000000000000" pitchFamily="2" charset="77"/>
      <p:regular r:id="rId20"/>
      <p:bold r:id="rId21"/>
      <p:italic r:id="rId22"/>
      <p:boldItalic r:id="rId23"/>
    </p:embeddedFont>
    <p:embeddedFont>
      <p:font typeface="Titillium Web" pitchFamily="2" charset="77"/>
      <p:regular r:id="rId24"/>
      <p:bold r:id="rId25"/>
      <p:italic r:id="rId26"/>
      <p:boldItalic r:id="rId27"/>
    </p:embeddedFont>
    <p:embeddedFont>
      <p:font typeface="Titillium Web Black" panose="00000A00000000000000" pitchFamily="2" charset="77"/>
      <p:bold r:id="rId28"/>
    </p:embeddedFont>
    <p:embeddedFont>
      <p:font typeface="Titillium Web SemiBold" panose="00000700000000000000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7"/>
    <p:restoredTop sz="94635"/>
  </p:normalViewPr>
  <p:slideViewPr>
    <p:cSldViewPr snapToGrid="0">
      <p:cViewPr varScale="1">
        <p:scale>
          <a:sx n="115" d="100"/>
          <a:sy n="115" d="100"/>
        </p:scale>
        <p:origin x="32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89A192F-84E1-2A50-ADA0-071DB115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ACD44E32-217C-05D8-BA7D-8BFC2309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996A2CD0-74FA-7BDC-CCB3-086176421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48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C111014-5827-C86E-5A86-38271020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326E752F-E6B8-1BAB-7E68-603CA0BBE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329AB51E-D5B9-35E3-BDC8-A17C30BF8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4502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E0D65363-290F-8EAF-6E75-F08F0294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>
            <a:extLst>
              <a:ext uri="{FF2B5EF4-FFF2-40B4-BE49-F238E27FC236}">
                <a16:creationId xmlns:a16="http://schemas.microsoft.com/office/drawing/2014/main" id="{F02789F1-F3CB-CDBD-7BE3-6B780A8E0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>
            <a:extLst>
              <a:ext uri="{FF2B5EF4-FFF2-40B4-BE49-F238E27FC236}">
                <a16:creationId xmlns:a16="http://schemas.microsoft.com/office/drawing/2014/main" id="{CA88C03F-A67A-CA6D-63A9-44FCA002F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711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F9B073D3-9BA9-6478-0859-B76E6A4F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>
            <a:extLst>
              <a:ext uri="{FF2B5EF4-FFF2-40B4-BE49-F238E27FC236}">
                <a16:creationId xmlns:a16="http://schemas.microsoft.com/office/drawing/2014/main" id="{B679FB24-8FC6-E120-15AF-25E9C72118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>
            <a:extLst>
              <a:ext uri="{FF2B5EF4-FFF2-40B4-BE49-F238E27FC236}">
                <a16:creationId xmlns:a16="http://schemas.microsoft.com/office/drawing/2014/main" id="{DC8F8830-654D-6F25-F295-72DE126DC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91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1" y="2230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714648"/>
            <a:ext cx="7620000" cy="346680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0" y="2095648"/>
            <a:ext cx="6700837" cy="123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1" u="none" strike="noStrike" cap="none" dirty="0">
                <a:solidFill>
                  <a:srgbClr val="FFFFFF"/>
                </a:solidFill>
                <a:latin typeface="Titillium Web Black"/>
                <a:ea typeface="Titillium Web Black"/>
                <a:cs typeface="Titillium Web Black"/>
                <a:sym typeface="Titillium Web Black"/>
              </a:rPr>
              <a:t>OPTIMIZING </a:t>
            </a:r>
            <a:r>
              <a:rPr lang="en-US" sz="5400" b="0" i="1" u="none" strike="noStrike" cap="none" dirty="0">
                <a:solidFill>
                  <a:srgbClr val="FF1801"/>
                </a:solidFill>
                <a:latin typeface="Titillium Web Black"/>
                <a:ea typeface="Titillium Web Black"/>
                <a:cs typeface="Titillium Web Black"/>
                <a:sym typeface="Titillium Web Black"/>
              </a:rPr>
              <a:t>F1</a:t>
            </a:r>
            <a:r>
              <a:rPr lang="en-US" sz="5400" b="0" i="1" u="none" strike="noStrike" cap="none" dirty="0">
                <a:solidFill>
                  <a:srgbClr val="FFFFFF"/>
                </a:solidFill>
                <a:latin typeface="Titillium Web Black"/>
                <a:ea typeface="Titillium Web Black"/>
                <a:cs typeface="Titillium Web Black"/>
                <a:sym typeface="Titillium Web Black"/>
              </a:rPr>
              <a:t> LOGISTICS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0" y="3877368"/>
            <a:ext cx="6381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CO₂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Traveling Salesman Problem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6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33625"/>
            <a:ext cx="55006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180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CURRENT REALITY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048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24 races in 11 months around the globe.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543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The route resembles a wild zigzag course.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4038600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Example: Australia → China → USA → Italy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1D5DB"/>
                </a:solidFill>
                <a:latin typeface="Montserrat"/>
                <a:sym typeface="Montserrat"/>
              </a:rPr>
              <a:t>4 Continents within the first 7 races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847892"/>
            <a:ext cx="460590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The Problem: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1500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assive inefficiency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unnecessary CO₂ emissions </a:t>
            </a: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LOGISTIC NIGHTMARE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527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23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" y="417194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530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Karte, Diagramm, Text enthält.&#10;&#10;KI-generierte Inhalte können fehlerhaft sein.">
            <a:extLst>
              <a:ext uri="{FF2B5EF4-FFF2-40B4-BE49-F238E27FC236}">
                <a16:creationId xmlns:a16="http://schemas.microsoft.com/office/drawing/2014/main" id="{B3B8FEF1-12AB-834C-247D-AD9137762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209" y="2177820"/>
            <a:ext cx="5925291" cy="3169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90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3172720"/>
            <a:ext cx="5238750" cy="1496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561051" y="2319400"/>
            <a:ext cx="523875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1801"/>
                </a:solidFill>
                <a:latin typeface="Titillium Web Black"/>
                <a:sym typeface="Titillium Web Black"/>
              </a:rPr>
              <a:t>about</a:t>
            </a:r>
            <a:r>
              <a:rPr lang="en-US" sz="3200" dirty="0">
                <a:solidFill>
                  <a:srgbClr val="FF1801"/>
                </a:solidFill>
                <a:latin typeface="Titillium Web Black"/>
                <a:sym typeface="Titillium Web Black"/>
              </a:rPr>
              <a:t> 12.9 </a:t>
            </a:r>
            <a:r>
              <a:rPr lang="en-US" sz="5400" dirty="0">
                <a:solidFill>
                  <a:srgbClr val="FF1801"/>
                </a:solidFill>
                <a:latin typeface="Titillium Web Black"/>
                <a:sym typeface="Titillium Web Black"/>
              </a:rPr>
              <a:t>SEXTILLION</a:t>
            </a:r>
            <a:endParaRPr sz="4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561051" y="3578127"/>
            <a:ext cx="5238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“12 926 008 369 442 488 320 000”</a:t>
            </a:r>
            <a:endParaRPr sz="105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561051" y="4114742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Astronomical number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Wingdings" pitchFamily="2" charset="2"/>
              </a:rPr>
              <a:t>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Manual trial and error is </a:t>
            </a:r>
            <a:r>
              <a:rPr lang="en-US" sz="150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impossible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647700" y="1876425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CHALLENGE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" y="2372023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How to find the perfect route?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035482" y="5494322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Our Goal: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Ignore politics, apply mathematics.</a:t>
            </a:r>
            <a:endParaRPr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66147"/>
            <a:ext cx="4629150" cy="924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TRAVELING SALESMAN PROBLEM</a:t>
            </a:r>
            <a:endParaRPr dirty="0"/>
          </a:p>
        </p:txBody>
      </p:sp>
      <p:sp>
        <p:nvSpPr>
          <p:cNvPr id="123" name="Google Shape;123;p15"/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05D34D3-ABB0-091E-A6A0-C6601B15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7764339C-8E1C-CBAD-138D-1296C2394A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EE7ABB41-DD40-F467-87F9-AFB6DF9AA19B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6EF77165-230A-7B85-6EC4-6995AFA167A5}"/>
              </a:ext>
            </a:extLst>
          </p:cNvPr>
          <p:cNvSpPr txBox="1"/>
          <p:nvPr/>
        </p:nvSpPr>
        <p:spPr>
          <a:xfrm>
            <a:off x="762000" y="609600"/>
            <a:ext cx="114014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Strategy</a:t>
            </a:r>
            <a:endParaRPr lang="en-US" sz="3600"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0A049124-3C27-5029-A2AD-94DA07137363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88;p13" descr="image.png">
            <a:extLst>
              <a:ext uri="{FF2B5EF4-FFF2-40B4-BE49-F238E27FC236}">
                <a16:creationId xmlns:a16="http://schemas.microsoft.com/office/drawing/2014/main" id="{ED9D425A-6E0B-E5EE-D514-BB855EE5CF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4183" y="1721542"/>
            <a:ext cx="6743700" cy="42109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01;p13">
            <a:extLst>
              <a:ext uri="{FF2B5EF4-FFF2-40B4-BE49-F238E27FC236}">
                <a16:creationId xmlns:a16="http://schemas.microsoft.com/office/drawing/2014/main" id="{0B342381-75B8-4B09-DA1E-22DA5EA6A5E4}"/>
              </a:ext>
            </a:extLst>
          </p:cNvPr>
          <p:cNvSpPr txBox="1"/>
          <p:nvPr/>
        </p:nvSpPr>
        <p:spPr>
          <a:xfrm>
            <a:off x="2863720" y="2253407"/>
            <a:ext cx="5305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Beginning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Nearest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Neighbour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Heuristic.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 SemiBold"/>
                <a:cs typeface="Montserrat SemiBold"/>
                <a:sym typeface="Montserrat SemiBold"/>
              </a:rPr>
              <a:t>Later</a:t>
            </a:r>
            <a:r>
              <a:rPr lang="en-US" sz="1200" dirty="0">
                <a:solidFill>
                  <a:srgbClr val="E5E7EB"/>
                </a:solidFill>
                <a:latin typeface="Montserrat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Successive </a:t>
            </a:r>
            <a:r>
              <a:rPr lang="en-US" sz="1200" b="1" dirty="0">
                <a:solidFill>
                  <a:srgbClr val="E5E7EB"/>
                </a:solidFill>
                <a:latin typeface="Montserrat"/>
                <a:sym typeface="Montserrat SemiBold"/>
              </a:rPr>
              <a:t>Insertion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Heuristic.</a:t>
            </a:r>
            <a:endParaRPr dirty="0"/>
          </a:p>
        </p:txBody>
      </p:sp>
      <p:sp>
        <p:nvSpPr>
          <p:cNvPr id="21" name="Google Shape;96;p13">
            <a:extLst>
              <a:ext uri="{FF2B5EF4-FFF2-40B4-BE49-F238E27FC236}">
                <a16:creationId xmlns:a16="http://schemas.microsoft.com/office/drawing/2014/main" id="{F479534F-323C-DA3A-6E12-03A40D71977B}"/>
              </a:ext>
            </a:extLst>
          </p:cNvPr>
          <p:cNvSpPr txBox="1"/>
          <p:nvPr/>
        </p:nvSpPr>
        <p:spPr>
          <a:xfrm>
            <a:off x="2584209" y="1892993"/>
            <a:ext cx="577072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1060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STRATEGIC DECISION</a:t>
            </a:r>
            <a:endParaRPr dirty="0"/>
          </a:p>
        </p:txBody>
      </p:sp>
      <p:sp>
        <p:nvSpPr>
          <p:cNvPr id="23" name="Google Shape;102;p13">
            <a:extLst>
              <a:ext uri="{FF2B5EF4-FFF2-40B4-BE49-F238E27FC236}">
                <a16:creationId xmlns:a16="http://schemas.microsoft.com/office/drawing/2014/main" id="{EBD2FEED-C012-15F8-ECC3-006251CC683D}"/>
              </a:ext>
            </a:extLst>
          </p:cNvPr>
          <p:cNvSpPr txBox="1"/>
          <p:nvPr/>
        </p:nvSpPr>
        <p:spPr>
          <a:xfrm>
            <a:off x="2863720" y="3051465"/>
            <a:ext cx="7874904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NN : </a:t>
            </a:r>
            <a:r>
              <a:rPr lang="en-US" sz="1200" dirty="0">
                <a:solidFill>
                  <a:srgbClr val="E5E7EB"/>
                </a:solidFill>
                <a:latin typeface="Montserrat"/>
                <a:sym typeface="Montserrat SemiBold"/>
              </a:rPr>
              <a:t>F1 transport must minimize immediate travel time.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</a:t>
            </a:r>
            <a:r>
              <a:rPr lang="en-US" sz="1200" dirty="0">
                <a:solidFill>
                  <a:srgbClr val="E5E7EB"/>
                </a:solidFill>
                <a:latin typeface="Montserrat"/>
                <a:sym typeface="Montserrat SemiBold"/>
              </a:rPr>
              <a:t> closest next destination is the most intuitive approach </a:t>
            </a:r>
            <a:br>
              <a:rPr lang="en-US" sz="1200" dirty="0">
                <a:solidFill>
                  <a:srgbClr val="E5E7EB"/>
                </a:solidFill>
                <a:latin typeface="Montserrat"/>
                <a:sym typeface="Montserrat SemiBold"/>
              </a:rPr>
            </a:br>
            <a:r>
              <a:rPr lang="en-US" sz="1200" dirty="0">
                <a:solidFill>
                  <a:srgbClr val="E5E7EB"/>
                </a:solidFill>
                <a:latin typeface="Montserrat"/>
                <a:sym typeface="Montserrat SemiBold"/>
              </a:rPr>
              <a:t>     </a:t>
            </a:r>
            <a:r>
              <a:rPr lang="en-US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to </a:t>
            </a:r>
            <a:r>
              <a:rPr lang="en-US" sz="1200" dirty="0">
                <a:solidFill>
                  <a:srgbClr val="E5E7EB"/>
                </a:solidFill>
                <a:latin typeface="Montserrat"/>
                <a:sym typeface="Montserrat SemiBold"/>
              </a:rPr>
              <a:t>reduce transit between races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lvl="0">
              <a:lnSpc>
                <a:spcPct val="150000"/>
              </a:lnSpc>
            </a:pPr>
            <a:r>
              <a:rPr lang="de-AT" sz="1200" b="1" dirty="0" err="1">
                <a:solidFill>
                  <a:srgbClr val="E5E7EB"/>
                </a:solidFill>
                <a:latin typeface="Montserrat"/>
              </a:rPr>
              <a:t>Successive</a:t>
            </a:r>
            <a:r>
              <a:rPr lang="de-AT" sz="1200" b="1" dirty="0">
                <a:solidFill>
                  <a:srgbClr val="E5E7EB"/>
                </a:solidFill>
                <a:latin typeface="Montserrat"/>
              </a:rPr>
              <a:t> Insertion: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optimizes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global route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structure</a:t>
            </a:r>
            <a:endParaRPr lang="de-AT" sz="1200" dirty="0">
              <a:solidFill>
                <a:srgbClr val="E5E7EB"/>
              </a:solidFill>
              <a:latin typeface="Montserrat"/>
            </a:endParaRPr>
          </a:p>
          <a:p>
            <a:pPr lvl="0">
              <a:lnSpc>
                <a:spcPct val="150000"/>
              </a:lnSpc>
            </a:pPr>
            <a:r>
              <a:rPr lang="de-AT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 </a:t>
            </a:r>
            <a:r>
              <a:rPr lang="de-AT" sz="1200" dirty="0" err="1">
                <a:solidFill>
                  <a:srgbClr val="E5E7EB"/>
                </a:solidFill>
                <a:latin typeface="Montserrat"/>
                <a:sym typeface="Wingdings" pitchFamily="2" charset="2"/>
              </a:rPr>
              <a:t>by</a:t>
            </a:r>
            <a:r>
              <a:rPr lang="de-AT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evaluating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cost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of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adding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a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destination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between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existing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stops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de-AT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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rather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than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just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moving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to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closest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point</a:t>
            </a:r>
            <a:endParaRPr lang="de-AT" sz="1200" dirty="0">
              <a:solidFill>
                <a:srgbClr val="E5E7EB"/>
              </a:solidFill>
              <a:latin typeface="Montserrat"/>
            </a:endParaRPr>
          </a:p>
          <a:p>
            <a:pPr lvl="0">
              <a:lnSpc>
                <a:spcPct val="150000"/>
              </a:lnSpc>
            </a:pPr>
            <a:r>
              <a:rPr lang="de-AT" sz="1200" dirty="0">
                <a:solidFill>
                  <a:srgbClr val="E5E7EB"/>
                </a:solidFill>
                <a:latin typeface="Montserrat"/>
                <a:sym typeface="Wingdings" pitchFamily="2" charset="2"/>
              </a:rPr>
              <a:t>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prevents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inefficient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"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long-distance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jumps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" at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end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of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the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 </a:t>
            </a:r>
            <a:r>
              <a:rPr lang="de-AT" sz="1200" dirty="0" err="1">
                <a:solidFill>
                  <a:srgbClr val="E5E7EB"/>
                </a:solidFill>
                <a:latin typeface="Montserrat"/>
              </a:rPr>
              <a:t>season</a:t>
            </a:r>
            <a:r>
              <a:rPr lang="de-AT" sz="1200" dirty="0">
                <a:solidFill>
                  <a:srgbClr val="E5E7EB"/>
                </a:solidFill>
                <a:latin typeface="Montserrat"/>
              </a:rPr>
              <a:t>.</a:t>
            </a:r>
            <a:endParaRPr lang="en-US" sz="1200" dirty="0">
              <a:solidFill>
                <a:srgbClr val="E5E7EB"/>
              </a:solidFill>
              <a:latin typeface="Montserrat"/>
              <a:sym typeface="Montserrat SemiBold"/>
            </a:endParaRPr>
          </a:p>
        </p:txBody>
      </p:sp>
      <p:pic>
        <p:nvPicPr>
          <p:cNvPr id="24" name="Google Shape;107;p13" descr="image.png">
            <a:extLst>
              <a:ext uri="{FF2B5EF4-FFF2-40B4-BE49-F238E27FC236}">
                <a16:creationId xmlns:a16="http://schemas.microsoft.com/office/drawing/2014/main" id="{DBCBE0D5-1704-3FF8-5B0B-DB8207185D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4209" y="2320244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07;p13" descr="image.png">
            <a:extLst>
              <a:ext uri="{FF2B5EF4-FFF2-40B4-BE49-F238E27FC236}">
                <a16:creationId xmlns:a16="http://schemas.microsoft.com/office/drawing/2014/main" id="{C9BA6D63-14D9-3121-2964-FFE20093DF2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4209" y="3104908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7;p13" descr="image.png">
            <a:extLst>
              <a:ext uri="{FF2B5EF4-FFF2-40B4-BE49-F238E27FC236}">
                <a16:creationId xmlns:a16="http://schemas.microsoft.com/office/drawing/2014/main" id="{234138DA-9C90-C0D2-4281-5D1A5352DF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4209" y="4236498"/>
            <a:ext cx="92951" cy="1547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712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B2371F0-1799-4EB0-1569-9706EEDA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>
            <a:extLst>
              <a:ext uri="{FF2B5EF4-FFF2-40B4-BE49-F238E27FC236}">
                <a16:creationId xmlns:a16="http://schemas.microsoft.com/office/drawing/2014/main" id="{36F479BB-8899-3CC9-4026-5BAA5573E4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F63E2A4B-B985-367C-5775-9F46BA819035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EF146ECC-39E0-19A5-4BF6-5C2DB321E19D}"/>
              </a:ext>
            </a:extLst>
          </p:cNvPr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ALGORITHM &amp; </a:t>
            </a:r>
            <a:r>
              <a:rPr lang="en-US" sz="3600" b="1" dirty="0">
                <a:solidFill>
                  <a:srgbClr val="E106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AI INTEGRATION</a:t>
            </a:r>
            <a:endParaRPr lang="en-US" sz="3600"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C90E915D-4220-785C-186D-2EAF88E076F2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6;p14" descr="image.png">
            <a:extLst>
              <a:ext uri="{FF2B5EF4-FFF2-40B4-BE49-F238E27FC236}">
                <a16:creationId xmlns:a16="http://schemas.microsoft.com/office/drawing/2014/main" id="{D63C8A89-78DA-E0F2-9E30-45DA1ADE47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2049"/>
            <a:ext cx="48006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32;p14">
            <a:extLst>
              <a:ext uri="{FF2B5EF4-FFF2-40B4-BE49-F238E27FC236}">
                <a16:creationId xmlns:a16="http://schemas.microsoft.com/office/drawing/2014/main" id="{9CA7116F-8EB6-4A19-7DF7-2CFAE69C0C07}"/>
              </a:ext>
            </a:extLst>
          </p:cNvPr>
          <p:cNvSpPr txBox="1"/>
          <p:nvPr/>
        </p:nvSpPr>
        <p:spPr>
          <a:xfrm>
            <a:off x="800100" y="2772549"/>
            <a:ext cx="4381500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CA3AF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CHATGPT SYSTEM PROMPT (SNIPPET)</a:t>
            </a:r>
            <a:endParaRPr dirty="0"/>
          </a:p>
        </p:txBody>
      </p:sp>
      <p:pic>
        <p:nvPicPr>
          <p:cNvPr id="5" name="Google Shape;128;p14" descr="image.png">
            <a:extLst>
              <a:ext uri="{FF2B5EF4-FFF2-40B4-BE49-F238E27FC236}">
                <a16:creationId xmlns:a16="http://schemas.microsoft.com/office/drawing/2014/main" id="{C52BACA6-743F-F259-4FA3-6304BC6518D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3100" y="1666875"/>
            <a:ext cx="58674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8;p14">
            <a:extLst>
              <a:ext uri="{FF2B5EF4-FFF2-40B4-BE49-F238E27FC236}">
                <a16:creationId xmlns:a16="http://schemas.microsoft.com/office/drawing/2014/main" id="{601326B5-6887-6A95-3C42-06EBE29387BC}"/>
              </a:ext>
            </a:extLst>
          </p:cNvPr>
          <p:cNvSpPr txBox="1"/>
          <p:nvPr/>
        </p:nvSpPr>
        <p:spPr>
          <a:xfrm>
            <a:off x="5953125" y="1838325"/>
            <a:ext cx="57707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1060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BASIS &amp; STARTING POINT</a:t>
            </a:r>
            <a:endParaRPr dirty="0"/>
          </a:p>
        </p:txBody>
      </p:sp>
      <p:sp>
        <p:nvSpPr>
          <p:cNvPr id="8" name="Google Shape;140;p14">
            <a:extLst>
              <a:ext uri="{FF2B5EF4-FFF2-40B4-BE49-F238E27FC236}">
                <a16:creationId xmlns:a16="http://schemas.microsoft.com/office/drawing/2014/main" id="{E05D0C28-07EE-04F5-A9AA-98965F9AF909}"/>
              </a:ext>
            </a:extLst>
          </p:cNvPr>
          <p:cNvSpPr txBox="1"/>
          <p:nvPr/>
        </p:nvSpPr>
        <p:spPr>
          <a:xfrm>
            <a:off x="6143625" y="2238375"/>
            <a:ext cx="5305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Foundation: Official 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F1 2025 Calendar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sequence.</a:t>
            </a:r>
            <a:endParaRPr dirty="0"/>
          </a:p>
        </p:txBody>
      </p:sp>
      <p:sp>
        <p:nvSpPr>
          <p:cNvPr id="9" name="Google Shape;141;p14">
            <a:extLst>
              <a:ext uri="{FF2B5EF4-FFF2-40B4-BE49-F238E27FC236}">
                <a16:creationId xmlns:a16="http://schemas.microsoft.com/office/drawing/2014/main" id="{3DD807DF-01F5-D4E1-0113-2A5AF1F256EE}"/>
              </a:ext>
            </a:extLst>
          </p:cNvPr>
          <p:cNvSpPr txBox="1"/>
          <p:nvPr/>
        </p:nvSpPr>
        <p:spPr>
          <a:xfrm>
            <a:off x="6143625" y="2543175"/>
            <a:ext cx="5305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Fixed Start: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Australia (Melbourne).</a:t>
            </a:r>
            <a:endParaRPr dirty="0"/>
          </a:p>
        </p:txBody>
      </p:sp>
      <p:sp>
        <p:nvSpPr>
          <p:cNvPr id="11" name="Google Shape;142;p14">
            <a:extLst>
              <a:ext uri="{FF2B5EF4-FFF2-40B4-BE49-F238E27FC236}">
                <a16:creationId xmlns:a16="http://schemas.microsoft.com/office/drawing/2014/main" id="{CD5D4071-E16D-1D2F-B95F-028C3A1EDB6A}"/>
              </a:ext>
            </a:extLst>
          </p:cNvPr>
          <p:cNvSpPr txBox="1"/>
          <p:nvPr/>
        </p:nvSpPr>
        <p:spPr>
          <a:xfrm>
            <a:off x="6143625" y="2832209"/>
            <a:ext cx="5305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This constraint ensures the algorithm respects the traditional season opener, creating realistic travel chains rather than theoretical constructs.</a:t>
            </a:r>
            <a:endParaRPr dirty="0"/>
          </a:p>
        </p:txBody>
      </p:sp>
      <p:pic>
        <p:nvPicPr>
          <p:cNvPr id="12" name="Google Shape;107;p13" descr="image.png">
            <a:extLst>
              <a:ext uri="{FF2B5EF4-FFF2-40B4-BE49-F238E27FC236}">
                <a16:creationId xmlns:a16="http://schemas.microsoft.com/office/drawing/2014/main" id="{8DEABEB8-8277-2073-0989-B5B31F31B6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699" y="2308636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7;p13" descr="image.png">
            <a:extLst>
              <a:ext uri="{FF2B5EF4-FFF2-40B4-BE49-F238E27FC236}">
                <a16:creationId xmlns:a16="http://schemas.microsoft.com/office/drawing/2014/main" id="{A25152EE-CC0A-434F-457A-F3E4582606B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698" y="2889289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14" descr="image.png">
            <a:extLst>
              <a:ext uri="{FF2B5EF4-FFF2-40B4-BE49-F238E27FC236}">
                <a16:creationId xmlns:a16="http://schemas.microsoft.com/office/drawing/2014/main" id="{1B9CEB12-A90B-732F-E386-25640BAB0F8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53100" y="3876675"/>
            <a:ext cx="5867400" cy="24568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9;p14">
            <a:extLst>
              <a:ext uri="{FF2B5EF4-FFF2-40B4-BE49-F238E27FC236}">
                <a16:creationId xmlns:a16="http://schemas.microsoft.com/office/drawing/2014/main" id="{EF298B5E-C100-654B-2149-5990DAB37F19}"/>
              </a:ext>
            </a:extLst>
          </p:cNvPr>
          <p:cNvSpPr txBox="1"/>
          <p:nvPr/>
        </p:nvSpPr>
        <p:spPr>
          <a:xfrm>
            <a:off x="5971668" y="4012547"/>
            <a:ext cx="57707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1060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ITERATIVE DEVELOPMENT</a:t>
            </a:r>
            <a:endParaRPr dirty="0"/>
          </a:p>
        </p:txBody>
      </p:sp>
      <p:sp>
        <p:nvSpPr>
          <p:cNvPr id="17" name="Google Shape;143;p14">
            <a:extLst>
              <a:ext uri="{FF2B5EF4-FFF2-40B4-BE49-F238E27FC236}">
                <a16:creationId xmlns:a16="http://schemas.microsoft.com/office/drawing/2014/main" id="{40980017-B527-4CB6-87FC-9694D9FEDC19}"/>
              </a:ext>
            </a:extLst>
          </p:cNvPr>
          <p:cNvSpPr txBox="1"/>
          <p:nvPr/>
        </p:nvSpPr>
        <p:spPr>
          <a:xfrm>
            <a:off x="6143120" y="4392713"/>
            <a:ext cx="5305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Prompt Engineering: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Using specific, constraint-based prompts (see left) to generate the Python core.</a:t>
            </a:r>
            <a:endParaRPr dirty="0"/>
          </a:p>
        </p:txBody>
      </p:sp>
      <p:sp>
        <p:nvSpPr>
          <p:cNvPr id="18" name="Google Shape;144;p14">
            <a:extLst>
              <a:ext uri="{FF2B5EF4-FFF2-40B4-BE49-F238E27FC236}">
                <a16:creationId xmlns:a16="http://schemas.microsoft.com/office/drawing/2014/main" id="{79D88BA7-509A-4393-509F-3006DD72C171}"/>
              </a:ext>
            </a:extLst>
          </p:cNvPr>
          <p:cNvSpPr txBox="1"/>
          <p:nvPr/>
        </p:nvSpPr>
        <p:spPr>
          <a:xfrm>
            <a:off x="6143122" y="5064189"/>
            <a:ext cx="5305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Manual Testing: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Ran tests with small subsets </a:t>
            </a:r>
            <a:r>
              <a:rPr lang="en-US" sz="1200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4 tracks) to verify the logic manually against calculator results.</a:t>
            </a:r>
            <a:endParaRPr dirty="0"/>
          </a:p>
        </p:txBody>
      </p:sp>
      <p:sp>
        <p:nvSpPr>
          <p:cNvPr id="20" name="Google Shape;145;p14">
            <a:extLst>
              <a:ext uri="{FF2B5EF4-FFF2-40B4-BE49-F238E27FC236}">
                <a16:creationId xmlns:a16="http://schemas.microsoft.com/office/drawing/2014/main" id="{C1082C15-127F-0C93-8738-1C51B83AB7B6}"/>
              </a:ext>
            </a:extLst>
          </p:cNvPr>
          <p:cNvSpPr txBox="1"/>
          <p:nvPr/>
        </p:nvSpPr>
        <p:spPr>
          <a:xfrm>
            <a:off x="6162677" y="5749304"/>
            <a:ext cx="5305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Optimization Loop: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Montserrat"/>
                <a:ea typeface="Montserrat"/>
                <a:cs typeface="Montserrat"/>
                <a:sym typeface="Montserrat"/>
              </a:rPr>
              <a:t> Refined the code with AI assistance until the output matrix perfectly matched validated distances.</a:t>
            </a:r>
            <a:endParaRPr dirty="0"/>
          </a:p>
        </p:txBody>
      </p:sp>
      <p:pic>
        <p:nvPicPr>
          <p:cNvPr id="21" name="Google Shape;107;p13" descr="image.png">
            <a:extLst>
              <a:ext uri="{FF2B5EF4-FFF2-40B4-BE49-F238E27FC236}">
                <a16:creationId xmlns:a16="http://schemas.microsoft.com/office/drawing/2014/main" id="{9CC7BC6E-26C6-A9F1-8946-CB6B26E7DC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193" y="4452530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07;p13" descr="image.png">
            <a:extLst>
              <a:ext uri="{FF2B5EF4-FFF2-40B4-BE49-F238E27FC236}">
                <a16:creationId xmlns:a16="http://schemas.microsoft.com/office/drawing/2014/main" id="{A3A7CC79-A075-E934-454C-24041581560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193" y="5138036"/>
            <a:ext cx="92951" cy="15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07;p13" descr="image.png">
            <a:extLst>
              <a:ext uri="{FF2B5EF4-FFF2-40B4-BE49-F238E27FC236}">
                <a16:creationId xmlns:a16="http://schemas.microsoft.com/office/drawing/2014/main" id="{04A0DDEA-12F4-B9E0-32CA-56276D34B8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193" y="5823151"/>
            <a:ext cx="92951" cy="15475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34;p14">
            <a:extLst>
              <a:ext uri="{FF2B5EF4-FFF2-40B4-BE49-F238E27FC236}">
                <a16:creationId xmlns:a16="http://schemas.microsoft.com/office/drawing/2014/main" id="{9ED52C0B-AC82-93CA-DA1B-41AB929424C6}"/>
              </a:ext>
            </a:extLst>
          </p:cNvPr>
          <p:cNvSpPr txBox="1"/>
          <p:nvPr/>
        </p:nvSpPr>
        <p:spPr>
          <a:xfrm>
            <a:off x="1685154" y="4427964"/>
            <a:ext cx="2348963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Nearest Neighbor heuristic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977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1596074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1801"/>
                </a:solidFill>
                <a:latin typeface="Titillium Web"/>
                <a:ea typeface="Titillium Web"/>
                <a:cs typeface="Titillium Web"/>
                <a:sym typeface="Titillium Web"/>
              </a:rPr>
              <a:t>VERIFYING THE LOGIC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1973341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We didn't blindly trust the computer. We verified the algorithm's logic by hand with a 4-city test case.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Montserrat"/>
                <a:sym typeface="Wingdings" pitchFamily="2" charset="2"/>
              </a:rPr>
              <a:t></a:t>
            </a:r>
            <a:r>
              <a:rPr lang="en-US" sz="1200" dirty="0">
                <a:solidFill>
                  <a:srgbClr val="D1D5DB"/>
                </a:solidFill>
                <a:latin typeface="Montserrat"/>
                <a:sym typeface="Montserrat"/>
              </a:rPr>
              <a:t> Here NN for example</a:t>
            </a:r>
            <a:endParaRPr sz="1100"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253037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The algorithm does the exact same thing, just incredibly fast for all 24 races</a:t>
            </a:r>
            <a:r>
              <a:rPr lang="en-US" sz="1500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(NN and SI)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857250" y="32718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A: Start: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Melbourne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857250" y="37671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B: Next: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Jeddah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857250" y="42624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C: Then:</a:t>
            </a:r>
            <a:r>
              <a:rPr lang="en-US" sz="1500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Red Bull Ring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857250" y="4757737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D: End: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Baku</a:t>
            </a:r>
            <a:endParaRPr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MANUAL PROOF OF CONCEPT</a:t>
            </a:r>
            <a:endParaRPr dirty="0"/>
          </a:p>
        </p:txBody>
      </p:sp>
      <p:sp>
        <p:nvSpPr>
          <p:cNvPr id="185" name="Google Shape;185;p18"/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766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71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672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62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Reihe, Text, Diagramm, Kreis enthält.&#10;&#10;KI-generierte Inhalte können fehlerhaft sein.">
            <a:extLst>
              <a:ext uri="{FF2B5EF4-FFF2-40B4-BE49-F238E27FC236}">
                <a16:creationId xmlns:a16="http://schemas.microsoft.com/office/drawing/2014/main" id="{39EE3467-74AC-CD09-2B58-D57EFA54C4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8" t="21009" r="2855" b="18896"/>
          <a:stretch>
            <a:fillRect/>
          </a:stretch>
        </p:blipFill>
        <p:spPr>
          <a:xfrm>
            <a:off x="6667500" y="2025335"/>
            <a:ext cx="4447189" cy="3711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3;p18" descr="image.png">
            <a:extLst>
              <a:ext uri="{FF2B5EF4-FFF2-40B4-BE49-F238E27FC236}">
                <a16:creationId xmlns:a16="http://schemas.microsoft.com/office/drawing/2014/main" id="{6DF32765-2AB0-922D-5485-4080E00D44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99" y="2959061"/>
            <a:ext cx="4572000" cy="163443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865653" y="546140"/>
            <a:ext cx="853664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ASSUMPTIONS: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COASTAL DEFINITION</a:t>
            </a:r>
            <a:endParaRPr dirty="0"/>
          </a:p>
        </p:txBody>
      </p:sp>
      <p:sp>
        <p:nvSpPr>
          <p:cNvPr id="227" name="Google Shape;227;p20"/>
          <p:cNvSpPr txBox="1"/>
          <p:nvPr/>
        </p:nvSpPr>
        <p:spPr>
          <a:xfrm>
            <a:off x="761999" y="1888436"/>
            <a:ext cx="51154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To be able to use sea freight</a:t>
            </a:r>
            <a:r>
              <a:rPr lang="en-US" sz="1500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we must define when a route is considered "coastal".</a:t>
            </a:r>
            <a:endParaRPr dirty="0"/>
          </a:p>
        </p:txBody>
      </p:sp>
      <p:sp>
        <p:nvSpPr>
          <p:cNvPr id="228" name="Google Shape;228;p20"/>
          <p:cNvSpPr txBox="1"/>
          <p:nvPr/>
        </p:nvSpPr>
        <p:spPr>
          <a:xfrm>
            <a:off x="761999" y="4783991"/>
            <a:ext cx="457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Example Brazil: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Interlagos is inland, but the port of Santos is just under 50km away → We count this as "coastal"</a:t>
            </a:r>
            <a:endParaRPr dirty="0"/>
          </a:p>
        </p:txBody>
      </p:sp>
      <p:sp>
        <p:nvSpPr>
          <p:cNvPr id="229" name="Google Shape;229;p20"/>
          <p:cNvSpPr txBox="1"/>
          <p:nvPr/>
        </p:nvSpPr>
        <p:spPr>
          <a:xfrm>
            <a:off x="990599" y="3159086"/>
            <a:ext cx="43505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180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50KM RULE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990599" y="3673436"/>
            <a:ext cx="4143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Anything closer than 50 km to a port is considered "Coastal".</a:t>
            </a:r>
            <a:endParaRPr/>
          </a:p>
        </p:txBody>
      </p:sp>
      <p:pic>
        <p:nvPicPr>
          <p:cNvPr id="3" name="Grafik 2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E7133F18-8653-BDC5-132B-0872C6A34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433" y="2164110"/>
            <a:ext cx="5999734" cy="3196530"/>
          </a:xfrm>
          <a:prstGeom prst="rect">
            <a:avLst/>
          </a:prstGeom>
        </p:spPr>
      </p:pic>
      <p:sp>
        <p:nvSpPr>
          <p:cNvPr id="5" name="Google Shape;213;p19">
            <a:extLst>
              <a:ext uri="{FF2B5EF4-FFF2-40B4-BE49-F238E27FC236}">
                <a16:creationId xmlns:a16="http://schemas.microsoft.com/office/drawing/2014/main" id="{3AED6B8E-DAB6-2B09-1E1F-2BE96D0BD3A7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304925"/>
            <a:ext cx="523875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2262187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1801"/>
                </a:solidFill>
                <a:latin typeface="Titillium Web"/>
                <a:ea typeface="Titillium Web"/>
                <a:cs typeface="Titillium Web"/>
                <a:sym typeface="Titillium Web"/>
              </a:rPr>
              <a:t>SHORTEST ROUTE ≠ CHEAPEST ROUTE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27193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Our model differentiates between transport modes to minimize the ecological footprint.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6643687" y="2143532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COST FACTORS (CODE)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43687" y="2604134"/>
            <a:ext cx="4648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Relative Cost Modeling: Instead of volatile market prices, the model uses fixed cost-factors to identify the most efficient logistics </a:t>
            </a:r>
            <a:r>
              <a:rPr lang="en-US" sz="1500" b="0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ratio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857250" y="36147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Air Freight: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Fast, but extremely expensive and high emissions.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57250" y="44148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Truck: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For short distances on the same continent.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857250" y="49101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Sea Freight: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Slow, but massively cheaper and more CO₂-efficient.</a:t>
            </a:r>
            <a:endParaRPr dirty="0"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3687" y="152440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ECO-MODEL</a:t>
            </a:r>
            <a:endParaRPr dirty="0"/>
          </a:p>
        </p:txBody>
      </p:sp>
      <p:sp>
        <p:nvSpPr>
          <p:cNvPr id="213" name="Google Shape;213;p19"/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" y="375369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256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112" y="505034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CEDFC5BB-7C14-D326-22FD-C439155D2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3829832"/>
            <a:ext cx="4381500" cy="1880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3;p19">
            <a:extLst>
              <a:ext uri="{FF2B5EF4-FFF2-40B4-BE49-F238E27FC236}">
                <a16:creationId xmlns:a16="http://schemas.microsoft.com/office/drawing/2014/main" id="{8EB6F68F-6CE7-0356-13AA-6AD3B3DCB255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E384799-63D5-D861-4689-27122FD750E6}"/>
              </a:ext>
            </a:extLst>
          </p:cNvPr>
          <p:cNvSpPr txBox="1"/>
          <p:nvPr/>
        </p:nvSpPr>
        <p:spPr>
          <a:xfrm>
            <a:off x="818589" y="495300"/>
            <a:ext cx="6234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b="1" dirty="0">
              <a:solidFill>
                <a:srgbClr val="FFFFFF"/>
              </a:solidFill>
              <a:latin typeface="Titillium Web"/>
            </a:endParaRPr>
          </a:p>
        </p:txBody>
      </p:sp>
      <p:sp>
        <p:nvSpPr>
          <p:cNvPr id="6" name="Google Shape;87;p13">
            <a:extLst>
              <a:ext uri="{FF2B5EF4-FFF2-40B4-BE49-F238E27FC236}">
                <a16:creationId xmlns:a16="http://schemas.microsoft.com/office/drawing/2014/main" id="{2DE8ED37-AACF-07B4-9A80-2F0B086450E2}"/>
              </a:ext>
            </a:extLst>
          </p:cNvPr>
          <p:cNvSpPr txBox="1"/>
          <p:nvPr/>
        </p:nvSpPr>
        <p:spPr>
          <a:xfrm>
            <a:off x="184731" y="1673962"/>
            <a:ext cx="113919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57"/>
              </a:lnSpc>
            </a:pPr>
            <a:r>
              <a:rPr lang="en-US" sz="1500" dirty="0">
                <a:solidFill>
                  <a:srgbClr val="D1D5DB"/>
                </a:solidFill>
                <a:latin typeface="Montserrat"/>
              </a:rPr>
              <a:t>To mirror real-world F1 logistics, we evolved our model from simple distance to a multi-dimensional cost function.</a:t>
            </a:r>
            <a:endParaRPr sz="1500" dirty="0">
              <a:solidFill>
                <a:srgbClr val="D1D5DB"/>
              </a:solidFill>
              <a:latin typeface="Montserrat"/>
            </a:endParaRPr>
          </a:p>
        </p:txBody>
      </p:sp>
      <p:sp>
        <p:nvSpPr>
          <p:cNvPr id="9" name="Google Shape;90;p13">
            <a:extLst>
              <a:ext uri="{FF2B5EF4-FFF2-40B4-BE49-F238E27FC236}">
                <a16:creationId xmlns:a16="http://schemas.microsoft.com/office/drawing/2014/main" id="{FB7C60F3-48F8-B564-A4EC-26B6248872D8}"/>
              </a:ext>
            </a:extLst>
          </p:cNvPr>
          <p:cNvSpPr txBox="1"/>
          <p:nvPr/>
        </p:nvSpPr>
        <p:spPr>
          <a:xfrm>
            <a:off x="6797041" y="3761303"/>
            <a:ext cx="5095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>
              <a:lnSpc>
                <a:spcPct val="150057"/>
              </a:lnSpc>
              <a:buFont typeface="Arial"/>
              <a:buNone/>
            </a:pPr>
            <a:r>
              <a:rPr lang="en-US" sz="1500" b="1" dirty="0">
                <a:solidFill>
                  <a:schemeClr val="bg1"/>
                </a:solidFill>
                <a:latin typeface="Montserrat"/>
                <a:sym typeface="Urbanist"/>
              </a:rPr>
              <a:t> </a:t>
            </a:r>
            <a:endParaRPr sz="1500" dirty="0">
              <a:solidFill>
                <a:srgbClr val="D1D5DB"/>
              </a:solidFill>
              <a:latin typeface="Montserrat"/>
            </a:endParaRPr>
          </a:p>
        </p:txBody>
      </p:sp>
      <p:sp>
        <p:nvSpPr>
          <p:cNvPr id="3" name="Google Shape;101;p14">
            <a:extLst>
              <a:ext uri="{FF2B5EF4-FFF2-40B4-BE49-F238E27FC236}">
                <a16:creationId xmlns:a16="http://schemas.microsoft.com/office/drawing/2014/main" id="{0DAFD33A-69CC-532F-2AB2-A59B1ED79CC1}"/>
              </a:ext>
            </a:extLst>
          </p:cNvPr>
          <p:cNvSpPr txBox="1"/>
          <p:nvPr/>
        </p:nvSpPr>
        <p:spPr>
          <a:xfrm>
            <a:off x="146631" y="2175855"/>
            <a:ext cx="5600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57"/>
              </a:lnSpc>
            </a:pPr>
            <a:r>
              <a:rPr lang="en-US" sz="1500" b="1" dirty="0">
                <a:solidFill>
                  <a:srgbClr val="D1D5DB"/>
                </a:solidFill>
                <a:latin typeface="Montserrat"/>
              </a:rPr>
              <a:t>Speed vs. Cost (The Trade-off)</a:t>
            </a:r>
            <a:endParaRPr sz="1500" b="1" dirty="0">
              <a:solidFill>
                <a:srgbClr val="D1D5DB"/>
              </a:solidFill>
              <a:latin typeface="Montserrat"/>
            </a:endParaRPr>
          </a:p>
        </p:txBody>
      </p:sp>
      <p:sp>
        <p:nvSpPr>
          <p:cNvPr id="13" name="Google Shape;104;p14">
            <a:extLst>
              <a:ext uri="{FF2B5EF4-FFF2-40B4-BE49-F238E27FC236}">
                <a16:creationId xmlns:a16="http://schemas.microsoft.com/office/drawing/2014/main" id="{703913CC-B3BF-85A5-C60A-E1CFCE1D8F4C}"/>
              </a:ext>
            </a:extLst>
          </p:cNvPr>
          <p:cNvSpPr txBox="1"/>
          <p:nvPr/>
        </p:nvSpPr>
        <p:spPr>
          <a:xfrm>
            <a:off x="647700" y="2726710"/>
            <a:ext cx="50958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lvl="0">
              <a:lnSpc>
                <a:spcPct val="150057"/>
              </a:lnSpc>
            </a:pPr>
            <a:r>
              <a:rPr lang="en-US" sz="1400" b="1" dirty="0">
                <a:solidFill>
                  <a:srgbClr val="D1D5DB"/>
                </a:solidFill>
                <a:latin typeface="Montserrat"/>
              </a:rPr>
              <a:t>Time via "Time Multiplier":</a:t>
            </a:r>
            <a:r>
              <a:rPr lang="en-US" sz="1400" dirty="0">
                <a:solidFill>
                  <a:srgbClr val="D1D5DB"/>
                </a:solidFill>
                <a:latin typeface="Montserrat"/>
              </a:rPr>
              <a:t> a speed factor to calculate travel time for a plane (e.g., factor of 0,15 = a 1,000 km flight is "perceived" as 150 km by the algorithm, making planes appear closer and more attractive when speed is the priority</a:t>
            </a:r>
            <a:endParaRPr sz="1400" dirty="0">
              <a:solidFill>
                <a:srgbClr val="D1D5DB"/>
              </a:solidFill>
              <a:latin typeface="Montserrat"/>
            </a:endParaRPr>
          </a:p>
        </p:txBody>
      </p:sp>
      <p:pic>
        <p:nvPicPr>
          <p:cNvPr id="15" name="Google Shape;216;p19" descr="image.png">
            <a:extLst>
              <a:ext uri="{FF2B5EF4-FFF2-40B4-BE49-F238E27FC236}">
                <a16:creationId xmlns:a16="http://schemas.microsoft.com/office/drawing/2014/main" id="{240A1D35-E7FE-99F7-9CAC-E18B530B60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367" y="2804513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6CCB49A2-0985-C217-DF3D-CE77AE5F7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Google Shape;216;p19" descr="image.png">
            <a:extLst>
              <a:ext uri="{FF2B5EF4-FFF2-40B4-BE49-F238E27FC236}">
                <a16:creationId xmlns:a16="http://schemas.microsoft.com/office/drawing/2014/main" id="{F9A3469D-1588-5C49-F521-532C7112B6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8427" y="276232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16;p19" descr="image.png">
            <a:extLst>
              <a:ext uri="{FF2B5EF4-FFF2-40B4-BE49-F238E27FC236}">
                <a16:creationId xmlns:a16="http://schemas.microsoft.com/office/drawing/2014/main" id="{A541E86B-A8FC-3959-183F-B815028290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606" y="4844430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A4EF00E4-DBAB-3654-70F3-F534210D7ECC}"/>
              </a:ext>
            </a:extLst>
          </p:cNvPr>
          <p:cNvSpPr txBox="1"/>
          <p:nvPr/>
        </p:nvSpPr>
        <p:spPr>
          <a:xfrm>
            <a:off x="6697758" y="2726710"/>
            <a:ext cx="509587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lvl="0">
              <a:lnSpc>
                <a:spcPct val="150057"/>
              </a:lnSpc>
            </a:pPr>
            <a:r>
              <a:rPr lang="en-US" sz="1400" b="1" dirty="0">
                <a:solidFill>
                  <a:srgbClr val="D1D5DB"/>
                </a:solidFill>
                <a:latin typeface="Montserrat"/>
              </a:rPr>
              <a:t>Cost via Linear &amp; Non-Linear Functions: </a:t>
            </a:r>
            <a:r>
              <a:rPr lang="en-US" sz="1400" dirty="0">
                <a:solidFill>
                  <a:srgbClr val="D1D5DB"/>
                </a:solidFill>
                <a:latin typeface="Montserrat"/>
              </a:rPr>
              <a:t>Each mode is assigned a cost function consisting of a fixed base fee plus a variable rate per kilometer. While trucks use a simple linear cost, the plane function includes logarithmic scaling and fuel weight penalties to reflect realistic long-haul aviation expenses.</a:t>
            </a:r>
            <a:endParaRPr sz="1400" dirty="0">
              <a:solidFill>
                <a:srgbClr val="D1D5DB"/>
              </a:solidFill>
              <a:latin typeface="Montserrat"/>
            </a:endParaRPr>
          </a:p>
        </p:txBody>
      </p:sp>
      <p:sp>
        <p:nvSpPr>
          <p:cNvPr id="10" name="Google Shape;104;p14">
            <a:extLst>
              <a:ext uri="{FF2B5EF4-FFF2-40B4-BE49-F238E27FC236}">
                <a16:creationId xmlns:a16="http://schemas.microsoft.com/office/drawing/2014/main" id="{ED3EE42B-5B2C-B987-A012-485E8116D58B}"/>
              </a:ext>
            </a:extLst>
          </p:cNvPr>
          <p:cNvSpPr txBox="1"/>
          <p:nvPr/>
        </p:nvSpPr>
        <p:spPr>
          <a:xfrm>
            <a:off x="647700" y="4755728"/>
            <a:ext cx="50958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lvl="0">
              <a:lnSpc>
                <a:spcPct val="150057"/>
              </a:lnSpc>
            </a:pPr>
            <a:r>
              <a:rPr lang="en-US" sz="1400" b="1" dirty="0">
                <a:solidFill>
                  <a:srgbClr val="D1D5DB"/>
                </a:solidFill>
                <a:latin typeface="Montserrat"/>
              </a:rPr>
              <a:t>Cost via Strategic Functions: </a:t>
            </a:r>
            <a:r>
              <a:rPr lang="en-US" sz="1400" dirty="0">
                <a:solidFill>
                  <a:srgbClr val="D1D5DB"/>
                </a:solidFill>
                <a:latin typeface="Montserrat"/>
              </a:rPr>
              <a:t>Every trip calculates a "ticket price" for both truck and plane using a fixed fee plus a variable rate per kilometer. By adjusting weights, the user decides if the model should prioritize cost (mostly favors Trucks) or the highest speed (Planes)</a:t>
            </a:r>
            <a:endParaRPr sz="1400" dirty="0">
              <a:solidFill>
                <a:srgbClr val="D1D5DB"/>
              </a:solidFill>
              <a:latin typeface="Montserra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5006EE6-724C-73D9-C631-FA9EB36AF513}"/>
              </a:ext>
            </a:extLst>
          </p:cNvPr>
          <p:cNvSpPr txBox="1"/>
          <p:nvPr/>
        </p:nvSpPr>
        <p:spPr>
          <a:xfrm>
            <a:off x="802686" y="668639"/>
            <a:ext cx="6234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Titillium Web"/>
              </a:rPr>
              <a:t>The Strategic Cost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2A3D3F6D-A18E-CA66-CA46-6B8F8776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 descr="image.png">
            <a:extLst>
              <a:ext uri="{FF2B5EF4-FFF2-40B4-BE49-F238E27FC236}">
                <a16:creationId xmlns:a16="http://schemas.microsoft.com/office/drawing/2014/main" id="{D1681E44-1FCD-4070-B9FA-9AFE717174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>
            <a:extLst>
              <a:ext uri="{FF2B5EF4-FFF2-40B4-BE49-F238E27FC236}">
                <a16:creationId xmlns:a16="http://schemas.microsoft.com/office/drawing/2014/main" id="{34FC44D5-118B-5776-B863-82F9D48DB56F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>
            <a:extLst>
              <a:ext uri="{FF2B5EF4-FFF2-40B4-BE49-F238E27FC236}">
                <a16:creationId xmlns:a16="http://schemas.microsoft.com/office/drawing/2014/main" id="{CD434214-B850-6D42-CE2A-75B41C1EA914}"/>
              </a:ext>
            </a:extLst>
          </p:cNvPr>
          <p:cNvSpPr txBox="1"/>
          <p:nvPr/>
        </p:nvSpPr>
        <p:spPr>
          <a:xfrm>
            <a:off x="762000" y="-779412"/>
            <a:ext cx="1140142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7. RESULT: 2025 SEASON</a:t>
            </a:r>
            <a:endParaRPr/>
          </a:p>
        </p:txBody>
      </p:sp>
      <p:sp>
        <p:nvSpPr>
          <p:cNvPr id="2" name="Google Shape;213;p19">
            <a:extLst>
              <a:ext uri="{FF2B5EF4-FFF2-40B4-BE49-F238E27FC236}">
                <a16:creationId xmlns:a16="http://schemas.microsoft.com/office/drawing/2014/main" id="{240071CB-5C00-177E-51F6-30550382A8F0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4F27909-0584-34F7-4C8D-173C67FFAF66}"/>
              </a:ext>
            </a:extLst>
          </p:cNvPr>
          <p:cNvSpPr txBox="1"/>
          <p:nvPr/>
        </p:nvSpPr>
        <p:spPr>
          <a:xfrm>
            <a:off x="762000" y="609600"/>
            <a:ext cx="932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Results: Eco Successive Insertion Plot</a:t>
            </a:r>
            <a:endParaRPr lang="en-US" sz="3600" dirty="0"/>
          </a:p>
        </p:txBody>
      </p:sp>
      <p:pic>
        <p:nvPicPr>
          <p:cNvPr id="8" name="Grafik 7" descr="Ein Bild, das Karte, Text enthält.&#10;&#10;KI-generierte Inhalte können fehlerhaft sein.">
            <a:extLst>
              <a:ext uri="{FF2B5EF4-FFF2-40B4-BE49-F238E27FC236}">
                <a16:creationId xmlns:a16="http://schemas.microsoft.com/office/drawing/2014/main" id="{37E07F9F-F9B0-0F95-35C3-4545D4AE3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599" y="1932103"/>
            <a:ext cx="7549652" cy="36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6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3B42C7FC-62EB-0568-EFEE-AD4607DB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 descr="image.png">
            <a:extLst>
              <a:ext uri="{FF2B5EF4-FFF2-40B4-BE49-F238E27FC236}">
                <a16:creationId xmlns:a16="http://schemas.microsoft.com/office/drawing/2014/main" id="{D19C69C1-35B1-5FDD-F80E-B29B9645FE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>
            <a:extLst>
              <a:ext uri="{FF2B5EF4-FFF2-40B4-BE49-F238E27FC236}">
                <a16:creationId xmlns:a16="http://schemas.microsoft.com/office/drawing/2014/main" id="{31CCEF20-ACC8-F02D-B3B3-0CD8E573CD56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>
            <a:extLst>
              <a:ext uri="{FF2B5EF4-FFF2-40B4-BE49-F238E27FC236}">
                <a16:creationId xmlns:a16="http://schemas.microsoft.com/office/drawing/2014/main" id="{054814D9-6B3A-D9E9-B0D9-C02B963FBBD0}"/>
              </a:ext>
            </a:extLst>
          </p:cNvPr>
          <p:cNvSpPr txBox="1"/>
          <p:nvPr/>
        </p:nvSpPr>
        <p:spPr>
          <a:xfrm>
            <a:off x="762000" y="-779412"/>
            <a:ext cx="1140142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7. RESULT: 2025 SEASON</a:t>
            </a:r>
            <a:endParaRPr/>
          </a:p>
        </p:txBody>
      </p:sp>
      <p:sp>
        <p:nvSpPr>
          <p:cNvPr id="2" name="Google Shape;213;p19">
            <a:extLst>
              <a:ext uri="{FF2B5EF4-FFF2-40B4-BE49-F238E27FC236}">
                <a16:creationId xmlns:a16="http://schemas.microsoft.com/office/drawing/2014/main" id="{1D781274-A6F8-03C2-2852-B38ACCB86081}"/>
              </a:ext>
            </a:extLst>
          </p:cNvPr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DE9BF24-09C5-335D-C3AF-1486A0D4D939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1389012"/>
          <a:ext cx="10655300" cy="4301330"/>
        </p:xfrm>
        <a:graphic>
          <a:graphicData uri="http://schemas.openxmlformats.org/drawingml/2006/table">
            <a:tbl>
              <a:tblPr/>
              <a:tblGrid>
                <a:gridCol w="3272952">
                  <a:extLst>
                    <a:ext uri="{9D8B030D-6E8A-4147-A177-3AD203B41FA5}">
                      <a16:colId xmlns:a16="http://schemas.microsoft.com/office/drawing/2014/main" val="2960492248"/>
                    </a:ext>
                  </a:extLst>
                </a:gridCol>
                <a:gridCol w="3691174">
                  <a:extLst>
                    <a:ext uri="{9D8B030D-6E8A-4147-A177-3AD203B41FA5}">
                      <a16:colId xmlns:a16="http://schemas.microsoft.com/office/drawing/2014/main" val="341349010"/>
                    </a:ext>
                  </a:extLst>
                </a:gridCol>
                <a:gridCol w="3691174">
                  <a:extLst>
                    <a:ext uri="{9D8B030D-6E8A-4147-A177-3AD203B41FA5}">
                      <a16:colId xmlns:a16="http://schemas.microsoft.com/office/drawing/2014/main" val="1385986453"/>
                    </a:ext>
                  </a:extLst>
                </a:gridCol>
              </a:tblGrid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 Type</a:t>
                      </a:r>
                      <a:endParaRPr lang="de-AT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Roundtrip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(Yes)</a:t>
                      </a:r>
                      <a:endParaRPr lang="de-AT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Roundtrip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No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de-AT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08770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Benchmark (</a:t>
                      </a: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Direct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125,789 km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114,148 km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76838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Nearest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Neighbour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(NN)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62,629 km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49,130 km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780219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Cheapest</a:t>
                      </a: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Insertion (IH)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68,533 km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62,257 km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702612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05684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Multimodel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: time and cost: (NN)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62,629 km / € 7,560,837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49,130 km / € 6,909,247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225920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Multimodel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: time and cost: (IH)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67,554 km / € 7,622,663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67,341 km / € 7,620,024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94013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08295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Eco_NN</a:t>
                      </a:r>
                      <a:endParaRPr lang="de-AT" b="1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78,147 km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65,270 km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601244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Eco_IH</a:t>
                      </a:r>
                      <a:endParaRPr lang="de-AT" b="1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73,793 km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AT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65,714 km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23221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DF6AB1F7-0D05-4974-5A58-5A1A7184CAF8}"/>
              </a:ext>
            </a:extLst>
          </p:cNvPr>
          <p:cNvSpPr txBox="1"/>
          <p:nvPr/>
        </p:nvSpPr>
        <p:spPr>
          <a:xfrm>
            <a:off x="762000" y="609600"/>
            <a:ext cx="6143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Results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531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3175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866775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MONEY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66775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Organizers like Abu Dhabi pay millions extra to host the prestigious season finale.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450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WEATHER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46450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Our mathematically optimal route would lead F1 to Canada in March – right into the snow.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4233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CONTRACTS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84233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Many dates are historically grown or politically fixed and cannot be moved.</a:t>
            </a:r>
            <a:endParaRPr/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765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765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765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762000" y="6096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WHY DOESN'T F1 DO THIS?</a:t>
            </a:r>
            <a:endParaRPr dirty="0"/>
          </a:p>
        </p:txBody>
      </p:sp>
      <p:sp>
        <p:nvSpPr>
          <p:cNvPr id="259" name="Google Shape;259;p22"/>
          <p:cNvSpPr/>
          <p:nvPr/>
        </p:nvSpPr>
        <p:spPr>
          <a:xfrm>
            <a:off x="571500" y="609600"/>
            <a:ext cx="76200" cy="695325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781175"/>
            <a:ext cx="7620000" cy="33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2952750" y="2162175"/>
            <a:ext cx="67008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2952750" y="2695575"/>
            <a:ext cx="63817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Mathematically, the problem is solved. We could revolutionize logistics.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2952750" y="3834705"/>
            <a:ext cx="952500" cy="19050"/>
          </a:xfrm>
          <a:prstGeom prst="rect">
            <a:avLst/>
          </a:prstGeom>
          <a:solidFill>
            <a:srgbClr val="FF18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2952750" y="4139505"/>
            <a:ext cx="6381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"In reality, commerce often beats mathematics."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Microsoft Macintosh PowerPoint</Application>
  <PresentationFormat>Breitbild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4" baseType="lpstr">
      <vt:lpstr>Calibri</vt:lpstr>
      <vt:lpstr>Google Sans Text</vt:lpstr>
      <vt:lpstr>Titillium Web SemiBold</vt:lpstr>
      <vt:lpstr>Titillium Web</vt:lpstr>
      <vt:lpstr>Montserrat</vt:lpstr>
      <vt:lpstr>Montserrat SemiBold</vt:lpstr>
      <vt:lpstr>Wingdings</vt:lpstr>
      <vt:lpstr>Titillium Web Black</vt:lpstr>
      <vt:lpstr>Courier New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Damian Dax</dc:creator>
  <cp:lastModifiedBy>David Erlacher</cp:lastModifiedBy>
  <cp:revision>23</cp:revision>
  <dcterms:modified xsi:type="dcterms:W3CDTF">2026-01-27T08:12:30Z</dcterms:modified>
</cp:coreProperties>
</file>